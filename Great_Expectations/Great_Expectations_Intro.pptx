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039293-A7CE-E6F2-A2F7-D11266EBC08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15700" y="6672580"/>
            <a:ext cx="83343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1F3A5F"/>
                </a:solidFill>
                <a:latin typeface="Calibri"/>
              </a:rPr>
              <a:t>Great Expectations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555555"/>
                </a:solidFill>
                <a:latin typeface="Calibri"/>
              </a:rPr>
              <a:t>An open-source data-quality framework for pandas, Spark and SQL pipelines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dirty="0">
                <a:solidFill>
                  <a:srgbClr val="1F3A5F"/>
                </a:solidFill>
                <a:latin typeface="Calibri"/>
              </a:rPr>
              <a:t>• What it is</a:t>
            </a:r>
            <a:r>
              <a:rPr sz="1600" dirty="0">
                <a:solidFill>
                  <a:srgbClr val="555555"/>
                </a:solidFill>
                <a:latin typeface="Calibri"/>
              </a:rPr>
              <a:t>  — A Python library that lets you express, store and run data-quality tests as 'expectations'.</a:t>
            </a:r>
          </a:p>
          <a:p>
            <a:pPr algn="l">
              <a:spcAft>
                <a:spcPts val="800"/>
              </a:spcAft>
            </a:pPr>
            <a:r>
              <a:rPr sz="1800" b="1" dirty="0">
                <a:solidFill>
                  <a:srgbClr val="1F3A5F"/>
                </a:solidFill>
                <a:latin typeface="Calibri"/>
              </a:rPr>
              <a:t>• Why it matters</a:t>
            </a:r>
            <a:r>
              <a:rPr sz="1600" dirty="0">
                <a:solidFill>
                  <a:srgbClr val="555555"/>
                </a:solidFill>
                <a:latin typeface="Calibri"/>
              </a:rPr>
              <a:t>  — Catches bad data before it breaks dashboards, ML models and downstream ETL — fail-fast, not fail-silent.</a:t>
            </a:r>
          </a:p>
          <a:p>
            <a:pPr algn="l">
              <a:spcAft>
                <a:spcPts val="800"/>
              </a:spcAft>
            </a:pPr>
            <a:r>
              <a:rPr sz="1800" b="1" dirty="0">
                <a:solidFill>
                  <a:srgbClr val="1F3A5F"/>
                </a:solidFill>
                <a:latin typeface="Calibri"/>
              </a:rPr>
              <a:t>• Today's demo</a:t>
            </a:r>
            <a:r>
              <a:rPr sz="1600" dirty="0">
                <a:solidFill>
                  <a:srgbClr val="555555"/>
                </a:solidFill>
                <a:latin typeface="Calibri"/>
              </a:rPr>
              <a:t>  — End-to-end walkthrough on a real Sales dataset (</a:t>
            </a:r>
            <a:r>
              <a:rPr sz="1600" dirty="0" err="1">
                <a:solidFill>
                  <a:srgbClr val="555555"/>
                </a:solidFill>
                <a:latin typeface="Calibri"/>
              </a:rPr>
              <a:t>data.xlsx</a:t>
            </a:r>
            <a:r>
              <a:rPr sz="1600" dirty="0">
                <a:solidFill>
                  <a:srgbClr val="555555"/>
                </a:solidFill>
                <a:latin typeface="Calibri"/>
              </a:rPr>
              <a:t>) — Steps 1–17.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Great Expectations Does — and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86AB"/>
                </a:solidFill>
                <a:latin typeface="Calibri"/>
              </a:rPr>
              <a:t>Core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1F3A5F"/>
                </a:solidFill>
                <a:latin typeface="Calibri"/>
              </a:rPr>
              <a:t>• 50+ built-in expectations</a:t>
            </a:r>
            <a:r>
              <a:rPr sz="1200">
                <a:solidFill>
                  <a:srgbClr val="555555"/>
                </a:solidFill>
                <a:latin typeface="Calibri"/>
              </a:rPr>
              <a:t>  — row counts, nulls, types, ranges, value sets, regex, dates.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F3A5F"/>
                </a:solidFill>
                <a:latin typeface="Calibri"/>
              </a:rPr>
              <a:t>• Suites as JSON</a:t>
            </a:r>
            <a:r>
              <a:rPr sz="1200">
                <a:solidFill>
                  <a:srgbClr val="555555"/>
                </a:solidFill>
                <a:latin typeface="Calibri"/>
              </a:rPr>
              <a:t>  — version-controlled, re-usable across environments.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F3A5F"/>
                </a:solidFill>
                <a:latin typeface="Calibri"/>
              </a:rPr>
              <a:t>• Auto-profiling</a:t>
            </a:r>
            <a:r>
              <a:rPr sz="1200">
                <a:solidFill>
                  <a:srgbClr val="555555"/>
                </a:solidFill>
                <a:latin typeface="Calibri"/>
              </a:rPr>
              <a:t>  — generate a starter suite from a trusted snapshot.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F3A5F"/>
                </a:solidFill>
                <a:latin typeface="Calibri"/>
              </a:rPr>
              <a:t>• Drift detection</a:t>
            </a:r>
            <a:r>
              <a:rPr sz="1200">
                <a:solidFill>
                  <a:srgbClr val="555555"/>
                </a:solidFill>
                <a:latin typeface="Calibri"/>
              </a:rPr>
              <a:t>  — KL-divergence on distributions, not just min/max.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F3A5F"/>
                </a:solidFill>
                <a:latin typeface="Calibri"/>
              </a:rPr>
              <a:t>• Cross-column rules</a:t>
            </a:r>
            <a:r>
              <a:rPr sz="1200">
                <a:solidFill>
                  <a:srgbClr val="555555"/>
                </a:solidFill>
                <a:latin typeface="Calibri"/>
              </a:rPr>
              <a:t>  — margins, composite keys, ordering invariants.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F3A5F"/>
                </a:solidFill>
                <a:latin typeface="Calibri"/>
              </a:rPr>
              <a:t>• Custom expectations</a:t>
            </a:r>
            <a:r>
              <a:rPr sz="1200">
                <a:solidFill>
                  <a:srgbClr val="555555"/>
                </a:solidFill>
                <a:latin typeface="Calibri"/>
              </a:rPr>
              <a:t>  — encode domain rules and persist them like built-ins.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F3A5F"/>
                </a:solidFill>
                <a:latin typeface="Calibri"/>
              </a:rPr>
              <a:t>• Data Docs</a:t>
            </a:r>
            <a:r>
              <a:rPr sz="1200">
                <a:solidFill>
                  <a:srgbClr val="555555"/>
                </a:solidFill>
                <a:latin typeface="Calibri"/>
              </a:rPr>
              <a:t>  — auto-generated HTML report — clickable green/red grid.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86AB"/>
                </a:solidFill>
                <a:latin typeface="Calibri"/>
              </a:rPr>
              <a:t>Why It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1F3A5F"/>
                </a:solidFill>
                <a:latin typeface="Calibri"/>
              </a:rPr>
              <a:t>• Fail-fast pipelines</a:t>
            </a:r>
            <a:r>
              <a:rPr sz="1200">
                <a:solidFill>
                  <a:srgbClr val="555555"/>
                </a:solidFill>
                <a:latin typeface="Calibri"/>
              </a:rPr>
              <a:t>  — stop bad data at the gate; don't poison downstream models.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F3A5F"/>
                </a:solidFill>
                <a:latin typeface="Calibri"/>
              </a:rPr>
              <a:t>• Shared contract</a:t>
            </a:r>
            <a:r>
              <a:rPr sz="1200">
                <a:solidFill>
                  <a:srgbClr val="555555"/>
                </a:solidFill>
                <a:latin typeface="Calibri"/>
              </a:rPr>
              <a:t>  — engineers, analysts and business owners read the same suite.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F3A5F"/>
                </a:solidFill>
                <a:latin typeface="Calibri"/>
              </a:rPr>
              <a:t>• Audit trail</a:t>
            </a:r>
            <a:r>
              <a:rPr sz="1200">
                <a:solidFill>
                  <a:srgbClr val="555555"/>
                </a:solidFill>
                <a:latin typeface="Calibri"/>
              </a:rPr>
              <a:t>  — every validation run is recorded and viewable in Data Docs.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F3A5F"/>
                </a:solidFill>
                <a:latin typeface="Calibri"/>
              </a:rPr>
              <a:t>• Plug-and-play</a:t>
            </a:r>
            <a:r>
              <a:rPr sz="1200">
                <a:solidFill>
                  <a:srgbClr val="555555"/>
                </a:solidFill>
                <a:latin typeface="Calibri"/>
              </a:rPr>
              <a:t>  — works with pandas, Spark, SQL — same API, same suite.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F3A5F"/>
                </a:solidFill>
                <a:latin typeface="Calibri"/>
              </a:rPr>
              <a:t>• Cheap to adopt</a:t>
            </a:r>
            <a:r>
              <a:rPr sz="1200">
                <a:solidFill>
                  <a:srgbClr val="555555"/>
                </a:solidFill>
                <a:latin typeface="Calibri"/>
              </a:rPr>
              <a:t>  — one pip install, one ge.from_pandas(df) — no infra needed.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Today's Live Demo — Notebook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86AB"/>
                </a:solidFill>
                <a:latin typeface="Calibri"/>
              </a:rPr>
              <a:t>Part 1 — Core Workflow (Steps 1–12)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dirty="0">
                <a:solidFill>
                  <a:srgbClr val="1F3A5F"/>
                </a:solidFill>
                <a:latin typeface="Calibri"/>
              </a:rPr>
              <a:t>• 1–3  Setup</a:t>
            </a:r>
            <a:r>
              <a:rPr sz="1200" dirty="0">
                <a:solidFill>
                  <a:srgbClr val="555555"/>
                </a:solidFill>
                <a:latin typeface="Calibri"/>
              </a:rPr>
              <a:t>  — install GE, load </a:t>
            </a:r>
            <a:r>
              <a:rPr sz="1200" dirty="0" err="1">
                <a:solidFill>
                  <a:srgbClr val="555555"/>
                </a:solidFill>
                <a:latin typeface="Calibri"/>
              </a:rPr>
              <a:t>data.xlsx</a:t>
            </a:r>
            <a:r>
              <a:rPr sz="1200" dirty="0">
                <a:solidFill>
                  <a:srgbClr val="555555"/>
                </a:solidFill>
                <a:latin typeface="Calibri"/>
              </a:rPr>
              <a:t>, wrap as </a:t>
            </a:r>
            <a:r>
              <a:rPr sz="1200" dirty="0" err="1">
                <a:solidFill>
                  <a:srgbClr val="555555"/>
                </a:solidFill>
                <a:latin typeface="Calibri"/>
              </a:rPr>
              <a:t>PandasDataset</a:t>
            </a:r>
            <a:r>
              <a:rPr sz="1200" dirty="0">
                <a:solidFill>
                  <a:srgbClr val="555555"/>
                </a:solidFill>
                <a:latin typeface="Calibri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1400" b="1" dirty="0">
                <a:solidFill>
                  <a:srgbClr val="1F3A5F"/>
                </a:solidFill>
                <a:latin typeface="Calibri"/>
              </a:rPr>
              <a:t>• 4–7  Write expectations</a:t>
            </a:r>
            <a:r>
              <a:rPr sz="1200" dirty="0">
                <a:solidFill>
                  <a:srgbClr val="555555"/>
                </a:solidFill>
                <a:latin typeface="Calibri"/>
              </a:rPr>
              <a:t>  — table row count, nulls, types, value sets, ranges, mean.</a:t>
            </a:r>
          </a:p>
          <a:p>
            <a:pPr algn="l">
              <a:spcAft>
                <a:spcPts val="800"/>
              </a:spcAft>
            </a:pPr>
            <a:r>
              <a:rPr sz="1400" b="1" dirty="0">
                <a:solidFill>
                  <a:srgbClr val="1F3A5F"/>
                </a:solidFill>
                <a:latin typeface="Calibri"/>
              </a:rPr>
              <a:t>• 8–9  Persist &amp; re-validate</a:t>
            </a:r>
            <a:r>
              <a:rPr sz="1200" dirty="0">
                <a:solidFill>
                  <a:srgbClr val="555555"/>
                </a:solidFill>
                <a:latin typeface="Calibri"/>
              </a:rPr>
              <a:t>  — save suite to JSON, validate next batch.</a:t>
            </a:r>
          </a:p>
          <a:p>
            <a:pPr algn="l">
              <a:spcAft>
                <a:spcPts val="800"/>
              </a:spcAft>
            </a:pPr>
            <a:r>
              <a:rPr sz="1400" b="1" dirty="0">
                <a:solidFill>
                  <a:srgbClr val="1F3A5F"/>
                </a:solidFill>
                <a:latin typeface="Calibri"/>
              </a:rPr>
              <a:t>• 10   Pipeline gate</a:t>
            </a:r>
            <a:r>
              <a:rPr sz="1200" dirty="0">
                <a:solidFill>
                  <a:srgbClr val="555555"/>
                </a:solidFill>
                <a:latin typeface="Calibri"/>
              </a:rPr>
              <a:t>  — branch on results['success'], fail-fast.</a:t>
            </a:r>
          </a:p>
          <a:p>
            <a:pPr algn="l">
              <a:spcAft>
                <a:spcPts val="800"/>
              </a:spcAft>
            </a:pPr>
            <a:r>
              <a:rPr sz="1400" b="1" dirty="0">
                <a:solidFill>
                  <a:srgbClr val="1F3A5F"/>
                </a:solidFill>
                <a:latin typeface="Calibri"/>
              </a:rPr>
              <a:t>• 11   Data Docs</a:t>
            </a:r>
            <a:r>
              <a:rPr sz="1200" dirty="0">
                <a:solidFill>
                  <a:srgbClr val="555555"/>
                </a:solidFill>
                <a:latin typeface="Calibri"/>
              </a:rPr>
              <a:t>  — auto-generated HTML report via Checkpoint.</a:t>
            </a:r>
          </a:p>
          <a:p>
            <a:pPr algn="l">
              <a:spcAft>
                <a:spcPts val="800"/>
              </a:spcAft>
            </a:pPr>
            <a:r>
              <a:rPr sz="1400" b="1" dirty="0">
                <a:solidFill>
                  <a:srgbClr val="1F3A5F"/>
                </a:solidFill>
                <a:latin typeface="Calibri"/>
              </a:rPr>
              <a:t>• 12   Stress test</a:t>
            </a:r>
            <a:r>
              <a:rPr sz="1200" dirty="0">
                <a:solidFill>
                  <a:srgbClr val="555555"/>
                </a:solidFill>
                <a:latin typeface="Calibri"/>
              </a:rPr>
              <a:t>  — inject 5 realistic faults — watch GE catch all of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86AB"/>
                </a:solidFill>
                <a:latin typeface="Calibri"/>
              </a:rPr>
              <a:t>Part 2 — Advanced (Steps 13–17)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1F3A5F"/>
                </a:solidFill>
                <a:latin typeface="Calibri"/>
              </a:rPr>
              <a:t>• 13  Auto-profile</a:t>
            </a:r>
            <a:r>
              <a:rPr sz="1200">
                <a:solidFill>
                  <a:srgbClr val="555555"/>
                </a:solidFill>
                <a:latin typeface="Calibri"/>
              </a:rPr>
              <a:t>  — UserConfigurableProfiler builds a starter suite.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F3A5F"/>
                </a:solidFill>
                <a:latin typeface="Calibri"/>
              </a:rPr>
              <a:t>• 14  Drift detection</a:t>
            </a:r>
            <a:r>
              <a:rPr sz="1200">
                <a:solidFill>
                  <a:srgbClr val="555555"/>
                </a:solidFill>
                <a:latin typeface="Calibri"/>
              </a:rPr>
              <a:t>  — KL-divergence on UnitPrice; +10% shift trips threshold.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F3A5F"/>
                </a:solidFill>
                <a:latin typeface="Calibri"/>
              </a:rPr>
              <a:t>• 15  Cross-column</a:t>
            </a:r>
            <a:r>
              <a:rPr sz="1200">
                <a:solidFill>
                  <a:srgbClr val="555555"/>
                </a:solidFill>
                <a:latin typeface="Calibri"/>
              </a:rPr>
              <a:t>  — margins, composite keys, monotonic dates.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F3A5F"/>
                </a:solidFill>
                <a:latin typeface="Calibri"/>
              </a:rPr>
              <a:t>• 16  Format &amp; regex</a:t>
            </a:r>
            <a:r>
              <a:rPr sz="1200">
                <a:solidFill>
                  <a:srgbClr val="555555"/>
                </a:solidFill>
                <a:latin typeface="Calibri"/>
              </a:rPr>
              <a:t>  — ZIP, StateCD, strftime — finds a real ingest bug.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F3A5F"/>
                </a:solidFill>
                <a:latin typeface="Calibri"/>
              </a:rPr>
              <a:t>• 17  Custom rule</a:t>
            </a:r>
            <a:r>
              <a:rPr sz="1200">
                <a:solidFill>
                  <a:srgbClr val="555555"/>
                </a:solidFill>
                <a:latin typeface="Calibri"/>
              </a:rPr>
              <a:t>  — Sales == UnitPrice × OrderQuantity, persisted in suite.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→ Switching to the notebook now.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c8f49a32-fde3-48a5-9266-b5b0972a22dc}" enabled="1" method="Standard" siteId="{5ae1af62-9505-4097-a69a-c1553ef7840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469</Words>
  <Application>Microsoft Macintosh PowerPoint</Application>
  <PresentationFormat>Widescreen</PresentationFormat>
  <Paragraphs>35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Ramya K.S. (ramyks)</cp:lastModifiedBy>
  <cp:revision>2</cp:revision>
  <dcterms:created xsi:type="dcterms:W3CDTF">2013-01-27T09:14:16Z</dcterms:created>
  <dcterms:modified xsi:type="dcterms:W3CDTF">2026-05-08T11:33:32Z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Cisco Confidential</vt:lpwstr>
  </property>
</Properties>
</file>